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977639"/>
            <a:ext cx="12191695" cy="38100"/>
          </a:xfrm>
          <a:prstGeom prst="rect">
            <a:avLst/>
          </a:prstGeom>
          <a:solidFill>
            <a:srgbClr val="F5C1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103327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4400" b="1">
                <a:solidFill>
                  <a:srgbClr val="FFFFFF"/>
                </a:solidFill>
                <a:latin typeface="PingFang TC"/>
              </a:rPr>
              <a:t>送貨單列印與雲端管理系統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108960"/>
            <a:ext cx="10332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400" b="1">
                <a:solidFill>
                  <a:srgbClr val="F5C142"/>
                </a:solidFill>
                <a:latin typeface="PingFang TC"/>
              </a:rPr>
              <a:t>功能介紹與系統提案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297680"/>
            <a:ext cx="100584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PingFang TC"/>
              </a:rPr>
              <a:t>報價對象:峻晟金屬股份有限公司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600" b="0">
                <a:solidFill>
                  <a:srgbClr val="C9D6E5"/>
                </a:solidFill>
                <a:latin typeface="PingFang TC"/>
              </a:rPr>
              <a:t>提案人:曾建斌　｜　2026.07.03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400" b="0">
                <a:solidFill>
                  <a:srgbClr val="C9D6E5"/>
                </a:solidFill>
                <a:latin typeface="PingFang TC"/>
              </a:rPr>
              <a:t>0927089418　cbtzeng@gmail.com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F5C1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91440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PingFang TC"/>
              </a:rPr>
              <a:t>現況的困擾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182880"/>
            <a:ext cx="8229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400" b="1">
                <a:solidFill>
                  <a:srgbClr val="F5C142"/>
                </a:solidFill>
                <a:latin typeface="PingFang TC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600"/>
              </a:spcAft>
            </a:pPr>
            <a:r>
              <a:rPr sz="2100" b="1">
                <a:solidFill>
                  <a:srgbClr val="1A1A1A"/>
                </a:solidFill>
                <a:latin typeface="PingFang TC"/>
              </a:rPr>
              <a:t>•  送貨單開完、關機就沒了</a:t>
            </a:r>
            <a:r>
              <a:rPr sz="1700">
                <a:solidFill>
                  <a:srgbClr val="555555"/>
                </a:solidFill>
                <a:latin typeface="PingFang TC"/>
              </a:rPr>
              <a:t>
     目前是單機記憶體狀態,沒有留底,要重看只能翻紙本聯單</a:t>
            </a:r>
          </a:p>
          <a:p>
            <a:pPr>
              <a:lnSpc>
                <a:spcPct val="105000"/>
              </a:lnSpc>
              <a:spcAft>
                <a:spcPts val="1600"/>
              </a:spcAft>
            </a:pPr>
            <a:r>
              <a:rPr sz="2100" b="1">
                <a:solidFill>
                  <a:srgbClr val="1A1A1A"/>
                </a:solidFill>
                <a:latin typeface="PingFang TC"/>
              </a:rPr>
              <a:t>•  只能在一台電腦開單</a:t>
            </a:r>
            <a:r>
              <a:rPr sz="1700">
                <a:solidFill>
                  <a:srgbClr val="555555"/>
                </a:solidFill>
                <a:latin typeface="PingFang TC"/>
              </a:rPr>
              <a:t>
     接印表機的那台才能用,其他人要開單得排隊</a:t>
            </a:r>
          </a:p>
          <a:p>
            <a:pPr>
              <a:lnSpc>
                <a:spcPct val="105000"/>
              </a:lnSpc>
              <a:spcAft>
                <a:spcPts val="1600"/>
              </a:spcAft>
            </a:pPr>
            <a:r>
              <a:rPr sz="2100" b="1">
                <a:solidFill>
                  <a:srgbClr val="1A1A1A"/>
                </a:solidFill>
                <a:latin typeface="PingFang TC"/>
              </a:rPr>
              <a:t>•  品名規格每次都要重打</a:t>
            </a:r>
            <a:r>
              <a:rPr sz="1700">
                <a:solidFill>
                  <a:srgbClr val="555555"/>
                </a:solidFill>
                <a:latin typeface="PingFang TC"/>
              </a:rPr>
              <a:t>
     同樣的品名、單位、單價反覆手打,慢又容易打錯</a:t>
            </a:r>
          </a:p>
          <a:p>
            <a:pPr>
              <a:lnSpc>
                <a:spcPct val="105000"/>
              </a:lnSpc>
              <a:spcAft>
                <a:spcPts val="1600"/>
              </a:spcAft>
            </a:pPr>
            <a:r>
              <a:rPr sz="2100" b="1">
                <a:solidFill>
                  <a:srgbClr val="1A1A1A"/>
                </a:solidFill>
                <a:latin typeface="PingFang TC"/>
              </a:rPr>
              <a:t>•  查舊單、重印很麻煩</a:t>
            </a:r>
            <a:r>
              <a:rPr sz="1700">
                <a:solidFill>
                  <a:srgbClr val="555555"/>
                </a:solidFill>
                <a:latin typeface="PingFang TC"/>
              </a:rPr>
              <a:t>
     客戶問一張舊單,得從一疊紙裡翻,找到也不好重印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F5C1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91440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PingFang TC"/>
              </a:rPr>
              <a:t>我們的做法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182880"/>
            <a:ext cx="8229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400" b="1">
                <a:solidFill>
                  <a:srgbClr val="F5C142"/>
                </a:solidFill>
                <a:latin typeface="PingFang TC"/>
              </a:rPr>
              <a:t>02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10698480" cy="13716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91640"/>
            <a:ext cx="101498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200" b="1">
                <a:solidFill>
                  <a:srgbClr val="1F4E78"/>
                </a:solidFill>
                <a:latin typeface="PingFang TC"/>
              </a:rPr>
              <a:t>保留現有能印的 LQ-310 列印工具,往上加一層雲端 —— 讓送貨單存得住、查得到、開單更快。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291840"/>
            <a:ext cx="106984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2000" b="1">
                <a:solidFill>
                  <a:srgbClr val="1A1A1A"/>
                </a:solidFill>
                <a:latin typeface="PingFang TC"/>
              </a:rPr>
              <a:t>•  既有列印照用</a:t>
            </a:r>
            <a:r>
              <a:rPr sz="1600">
                <a:solidFill>
                  <a:srgbClr val="555555"/>
                </a:solidFill>
                <a:latin typeface="PingFang TC"/>
              </a:rPr>
              <a:t>
     現有的三聯送貨單列印(LQ-310)完全不動,穩定可靠</a:t>
            </a:r>
          </a:p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2000" b="1">
                <a:solidFill>
                  <a:srgbClr val="1A1A1A"/>
                </a:solidFill>
                <a:latin typeface="PingFang TC"/>
              </a:rPr>
              <a:t>•  多一個雲端資料庫</a:t>
            </a:r>
            <a:r>
              <a:rPr sz="1600">
                <a:solidFill>
                  <a:srgbClr val="555555"/>
                </a:solidFill>
                <a:latin typeface="PingFang TC"/>
              </a:rPr>
              <a:t>
     每張單自動存進雲端,隨時查、隨時重印</a:t>
            </a:r>
          </a:p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2000" b="1">
                <a:solidFill>
                  <a:srgbClr val="1A1A1A"/>
                </a:solidFill>
                <a:latin typeface="PingFang TC"/>
              </a:rPr>
              <a:t>•  開單變快</a:t>
            </a:r>
            <a:r>
              <a:rPr sz="1600">
                <a:solidFill>
                  <a:srgbClr val="555555"/>
                </a:solidFill>
                <a:latin typeface="PingFang TC"/>
              </a:rPr>
              <a:t>
     品名打幾個字就跳建議,選一下自動帶入單位與單價</a:t>
            </a:r>
          </a:p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2000" b="1">
                <a:solidFill>
                  <a:srgbClr val="1A1A1A"/>
                </a:solidFill>
                <a:latin typeface="PingFang TC"/>
              </a:rPr>
              <a:t>•  多台都能用</a:t>
            </a:r>
            <a:r>
              <a:rPr sz="1600">
                <a:solidFill>
                  <a:srgbClr val="555555"/>
                </a:solidFill>
                <a:latin typeface="PingFang TC"/>
              </a:rPr>
              <a:t>
     系統上雲,辦公室任何一台電腦都能開單查單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F5C1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91440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PingFang TC"/>
              </a:rPr>
              <a:t>系統怎麼運作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182880"/>
            <a:ext cx="8229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400" b="1">
                <a:solidFill>
                  <a:srgbClr val="F5C142"/>
                </a:solidFill>
                <a:latin typeface="PingFang TC"/>
              </a:rPr>
              <a:t>03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103120"/>
            <a:ext cx="2377440" cy="1188720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212848"/>
            <a:ext cx="23774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PingFang TC"/>
              </a:rPr>
              <a:t>開單人員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70048"/>
            <a:ext cx="23774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FFFFFF"/>
                </a:solidFill>
                <a:latin typeface="PingFang TC"/>
              </a:rPr>
              <a:t>瀏覽器開單/查單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0" y="2103120"/>
            <a:ext cx="2651760" cy="118872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0" y="2212848"/>
            <a:ext cx="26517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PingFang TC"/>
              </a:rPr>
              <a:t>雲端前端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670048"/>
            <a:ext cx="26517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FFFFFF"/>
                </a:solidFill>
                <a:latin typeface="PingFang TC"/>
              </a:rPr>
              <a:t>Next.js @ Vercel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949440" y="2103120"/>
            <a:ext cx="2377440" cy="118872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9440" y="2212848"/>
            <a:ext cx="23774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PingFang TC"/>
              </a:rPr>
              <a:t>雲端資料庫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0" y="2670048"/>
            <a:ext cx="23774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FFFFFF"/>
                </a:solidFill>
                <a:latin typeface="PingFang TC"/>
              </a:rPr>
              <a:t>Supabase 存單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0" y="3840480"/>
            <a:ext cx="2651760" cy="1188720"/>
          </a:xfrm>
          <a:prstGeom prst="rect">
            <a:avLst/>
          </a:prstGeom>
          <a:solidFill>
            <a:srgbClr val="8A6D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0" y="3950208"/>
            <a:ext cx="26517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PingFang TC"/>
              </a:rPr>
              <a:t>本機列印程式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4407408"/>
            <a:ext cx="26517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FFFFFF"/>
                </a:solidFill>
                <a:latin typeface="PingFang TC"/>
              </a:rPr>
              <a:t>接 LQ-310 的電腦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49440" y="3840480"/>
            <a:ext cx="2377440" cy="1188720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49440" y="3950208"/>
            <a:ext cx="23774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PingFang TC"/>
              </a:rPr>
              <a:t>LQ-310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0" y="4407408"/>
            <a:ext cx="23774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FFFFFF"/>
                </a:solidFill>
                <a:latin typeface="PingFang TC"/>
              </a:rPr>
              <a:t>印出三聯送貨單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017520" y="2697480"/>
            <a:ext cx="640080" cy="0"/>
          </a:xfrm>
          <a:prstGeom prst="line">
            <a:avLst/>
          </a:prstGeom>
          <a:ln w="25400">
            <a:solidFill>
              <a:srgbClr val="1F4E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309360" y="2697480"/>
            <a:ext cx="640080" cy="0"/>
          </a:xfrm>
          <a:prstGeom prst="line">
            <a:avLst/>
          </a:prstGeom>
          <a:ln w="25400">
            <a:solidFill>
              <a:srgbClr val="1F4E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983480" y="3291840"/>
            <a:ext cx="0" cy="548640"/>
          </a:xfrm>
          <a:prstGeom prst="line">
            <a:avLst/>
          </a:prstGeom>
          <a:ln w="25400">
            <a:solidFill>
              <a:srgbClr val="1F4E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309360" y="4434840"/>
            <a:ext cx="640080" cy="0"/>
          </a:xfrm>
          <a:prstGeom prst="line">
            <a:avLst/>
          </a:prstGeom>
          <a:ln w="25400">
            <a:solidFill>
              <a:srgbClr val="1F4E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40080" y="5577840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600" b="0">
                <a:solidFill>
                  <a:srgbClr val="555555"/>
                </a:solidFill>
                <a:latin typeface="PingFang TC"/>
              </a:rPr>
              <a:t>存單/查單走雲端;列印仍由接印表機的本機負責,穩定不受網路影響。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F5C1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91440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PingFang TC"/>
              </a:rPr>
              <a:t>功能模組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182880"/>
            <a:ext cx="8229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400" b="1">
                <a:solidFill>
                  <a:srgbClr val="F5C142"/>
                </a:solidFill>
                <a:latin typeface="PingFang TC"/>
              </a:rPr>
              <a:t>04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17320"/>
            <a:ext cx="3520440" cy="16002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417320"/>
            <a:ext cx="76200" cy="160020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81912"/>
            <a:ext cx="3154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>
                <a:solidFill>
                  <a:srgbClr val="1F4E78"/>
                </a:solidFill>
                <a:latin typeface="PingFang TC"/>
              </a:rPr>
              <a:t>雲端存單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03120"/>
            <a:ext cx="3154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0">
                <a:solidFill>
                  <a:srgbClr val="555555"/>
                </a:solidFill>
                <a:latin typeface="PingFang TC"/>
              </a:rPr>
              <a:t>每張送貨單自動存進資料庫,不再關機就消失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51960" y="1417320"/>
            <a:ext cx="3520440" cy="16002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51960" y="1417320"/>
            <a:ext cx="76200" cy="160020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1581912"/>
            <a:ext cx="3154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>
                <a:solidFill>
                  <a:srgbClr val="1F4E78"/>
                </a:solidFill>
                <a:latin typeface="PingFang TC"/>
              </a:rPr>
              <a:t>歷史查詢 / 重印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2103120"/>
            <a:ext cx="3154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0">
                <a:solidFill>
                  <a:srgbClr val="555555"/>
                </a:solidFill>
                <a:latin typeface="PingFang TC"/>
              </a:rPr>
              <a:t>依單號、客戶、日期查舊單,一鍵重印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01000" y="1417320"/>
            <a:ext cx="3520440" cy="16002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01000" y="1417320"/>
            <a:ext cx="76200" cy="160020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1581912"/>
            <a:ext cx="3154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>
                <a:solidFill>
                  <a:srgbClr val="1F4E78"/>
                </a:solidFill>
                <a:latin typeface="PingFang TC"/>
              </a:rPr>
              <a:t>品名主檔匯入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2103120"/>
            <a:ext cx="3154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0">
                <a:solidFill>
                  <a:srgbClr val="555555"/>
                </a:solidFill>
                <a:latin typeface="PingFang TC"/>
              </a:rPr>
              <a:t>現成 Excel 清單一次匯入,建立品名規格庫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3273552"/>
            <a:ext cx="3520440" cy="16002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3273552"/>
            <a:ext cx="76200" cy="160020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3438144"/>
            <a:ext cx="3154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>
                <a:solidFill>
                  <a:srgbClr val="1F4E78"/>
                </a:solidFill>
                <a:latin typeface="PingFang TC"/>
              </a:rPr>
              <a:t>品名 autocomplete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3959352"/>
            <a:ext cx="3154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0">
                <a:solidFill>
                  <a:srgbClr val="555555"/>
                </a:solidFill>
                <a:latin typeface="PingFang TC"/>
              </a:rPr>
              <a:t>開單即時建議,自動帶入單位與單價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51960" y="3273552"/>
            <a:ext cx="3520440" cy="16002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51960" y="3273552"/>
            <a:ext cx="76200" cy="160020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80560" y="3438144"/>
            <a:ext cx="3154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>
                <a:solidFill>
                  <a:srgbClr val="1F4E78"/>
                </a:solidFill>
                <a:latin typeface="PingFang TC"/>
              </a:rPr>
              <a:t>上雲多台可用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3959352"/>
            <a:ext cx="3154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0">
                <a:solidFill>
                  <a:srgbClr val="555555"/>
                </a:solidFill>
                <a:latin typeface="PingFang TC"/>
              </a:rPr>
              <a:t>部署到雲端,多台裝置都能開單查單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01000" y="3273552"/>
            <a:ext cx="3520440" cy="16002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01000" y="3273552"/>
            <a:ext cx="76200" cy="160020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0" y="3438144"/>
            <a:ext cx="3154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>
                <a:solidFill>
                  <a:srgbClr val="1F4E78"/>
                </a:solidFill>
                <a:latin typeface="PingFang TC"/>
              </a:rPr>
              <a:t>既有列印保留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3959352"/>
            <a:ext cx="3154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0">
                <a:solidFill>
                  <a:srgbClr val="555555"/>
                </a:solidFill>
                <a:latin typeface="PingFang TC"/>
              </a:rPr>
              <a:t>LQ-310 三聯列印與對位微調完全沿用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F5C1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91440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PingFang TC"/>
              </a:rPr>
              <a:t>執行時程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182880"/>
            <a:ext cx="8229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400" b="1">
                <a:solidFill>
                  <a:srgbClr val="F5C142"/>
                </a:solidFill>
                <a:latin typeface="PingFang TC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200" b="1">
                <a:solidFill>
                  <a:srgbClr val="1F4E78"/>
                </a:solidFill>
                <a:latin typeface="PingFang TC"/>
              </a:rPr>
              <a:t>預估交付約 1.5–2 週(開發 3.75 人天,含測試與驗收)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286000"/>
            <a:ext cx="1828800" cy="100584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286000"/>
            <a:ext cx="182880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PingFang TC"/>
              </a:rPr>
              <a:t>第 1 週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0" y="2286000"/>
            <a:ext cx="8686800" cy="100584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17520" y="2404872"/>
            <a:ext cx="8229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>
                <a:solidFill>
                  <a:srgbClr val="1A1A1A"/>
                </a:solidFill>
                <a:latin typeface="PingFang TC"/>
              </a:rPr>
              <a:t>雲端資料庫 + 送貨單存查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2852928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>
                <a:solidFill>
                  <a:srgbClr val="555555"/>
                </a:solidFill>
                <a:latin typeface="PingFang TC"/>
              </a:rPr>
              <a:t>M1–M2:建 Supabase、存單、清單與查詢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3520440"/>
            <a:ext cx="1828800" cy="100584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520440"/>
            <a:ext cx="182880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PingFang TC"/>
              </a:rPr>
              <a:t>第 1–2 週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0" y="3520440"/>
            <a:ext cx="8686800" cy="100584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17520" y="3639312"/>
            <a:ext cx="8229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>
                <a:solidFill>
                  <a:srgbClr val="1A1A1A"/>
                </a:solidFill>
                <a:latin typeface="PingFang TC"/>
              </a:rPr>
              <a:t>品名匯入 + autocomplete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4087368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>
                <a:solidFill>
                  <a:srgbClr val="555555"/>
                </a:solidFill>
                <a:latin typeface="PingFang TC"/>
              </a:rPr>
              <a:t>M3–M4:匯入品名清單、開單自動帶入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4754880"/>
            <a:ext cx="1828800" cy="100584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754880"/>
            <a:ext cx="182880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PingFang TC"/>
              </a:rPr>
              <a:t>第 2 週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0" y="4754880"/>
            <a:ext cx="8686800" cy="100584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017520" y="4873752"/>
            <a:ext cx="8229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>
                <a:solidFill>
                  <a:srgbClr val="1A1A1A"/>
                </a:solidFill>
                <a:latin typeface="PingFang TC"/>
              </a:rPr>
              <a:t>上線 + 列印實測 + 驗收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17520" y="5321808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>
                <a:solidFill>
                  <a:srgbClr val="555555"/>
                </a:solidFill>
                <a:latin typeface="PingFang TC"/>
              </a:rPr>
              <a:t>M5:部署上雲、列印連線實測、交付驗收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F5C1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91440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PingFang TC"/>
              </a:rPr>
              <a:t>投資與報價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182880"/>
            <a:ext cx="8229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400" b="1">
                <a:solidFill>
                  <a:srgbClr val="F5C142"/>
                </a:solidFill>
                <a:latin typeface="PingFang TC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68580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PingFang TC"/>
              </a:rPr>
              <a:t>Phase 1 開發(5 大模組)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0" y="1554480"/>
            <a:ext cx="35661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PingFang TC"/>
              </a:rPr>
              <a:t>NT$ 22,500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121408"/>
            <a:ext cx="68580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PingFang TC"/>
              </a:rPr>
              <a:t>專案管理 / 測試 / 風險緩衝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0" y="2121408"/>
            <a:ext cx="35661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PingFang TC"/>
              </a:rPr>
              <a:t>NT$ 8,325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688336"/>
            <a:ext cx="68580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>
                <a:solidFill>
                  <a:srgbClr val="1A1A1A"/>
                </a:solidFill>
                <a:latin typeface="PingFang TC"/>
              </a:rPr>
              <a:t>未稅小計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0" y="2688336"/>
            <a:ext cx="35661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800" b="1">
                <a:solidFill>
                  <a:srgbClr val="1A1A1A"/>
                </a:solidFill>
                <a:latin typeface="PingFang TC"/>
              </a:rPr>
              <a:t>NT$ 30,825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255264"/>
            <a:ext cx="68580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>
                <a:solidFill>
                  <a:srgbClr val="1A1A1A"/>
                </a:solidFill>
                <a:latin typeface="PingFang TC"/>
              </a:rPr>
              <a:t>營業稅 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0" y="3255264"/>
            <a:ext cx="35661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800" b="1">
                <a:solidFill>
                  <a:srgbClr val="1A1A1A"/>
                </a:solidFill>
                <a:latin typeface="PingFang TC"/>
              </a:rPr>
              <a:t>NT$ 1,541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3931920"/>
            <a:ext cx="10424160" cy="822960"/>
          </a:xfrm>
          <a:prstGeom prst="rect">
            <a:avLst/>
          </a:prstGeom>
          <a:solidFill>
            <a:srgbClr val="F5C1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3931920"/>
            <a:ext cx="54864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200" b="1">
                <a:solidFill>
                  <a:srgbClr val="1A1A1A"/>
                </a:solidFill>
                <a:latin typeface="PingFang TC"/>
              </a:rPr>
              <a:t>含稅總計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20" y="3931920"/>
            <a:ext cx="54864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2600" b="1">
                <a:solidFill>
                  <a:srgbClr val="1F4E78"/>
                </a:solidFill>
                <a:latin typeface="PingFang TC"/>
              </a:rPr>
              <a:t>NT$ 32,366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029200"/>
            <a:ext cx="104241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>
                <a:solidFill>
                  <a:srgbClr val="555555"/>
                </a:solidFill>
                <a:latin typeface="PingFang TC"/>
              </a:rPr>
              <a:t>付款:簽約 50% / 驗收 50%　｜　保固:驗收後 3 個月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>
                <a:solidFill>
                  <a:srgbClr val="555555"/>
                </a:solidFill>
                <a:latin typeface="PingFang TC"/>
              </a:rPr>
              <a:t>不含 Supabase / Vercel 等第三方雲端服務付費方案(如有,由客戶負擔)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F5C1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91440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PingFang TC"/>
              </a:rPr>
              <a:t>為什麼選我 · 下一步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182880"/>
            <a:ext cx="8229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400" b="1">
                <a:solidFill>
                  <a:srgbClr val="F5C142"/>
                </a:solidFill>
                <a:latin typeface="PingFang TC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106984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900" b="1">
                <a:solidFill>
                  <a:srgbClr val="1A1A1A"/>
                </a:solidFill>
                <a:latin typeface="PingFang TC"/>
              </a:rPr>
              <a:t>•  已有可運作的基礎</a:t>
            </a:r>
            <a:r>
              <a:rPr sz="1500">
                <a:solidFill>
                  <a:srgbClr val="555555"/>
                </a:solidFill>
                <a:latin typeface="PingFang TC"/>
              </a:rPr>
              <a:t>
     列印與表單 MVP 已完成,是擴充不是從零開始,省時省錢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900" b="1">
                <a:solidFill>
                  <a:srgbClr val="1A1A1A"/>
                </a:solidFill>
                <a:latin typeface="PingFang TC"/>
              </a:rPr>
              <a:t>•  量身打造、非套裝</a:t>
            </a:r>
            <a:r>
              <a:rPr sz="1500">
                <a:solidFill>
                  <a:srgbClr val="555555"/>
                </a:solidFill>
                <a:latin typeface="PingFang TC"/>
              </a:rPr>
              <a:t>
     完全貼合貴公司現有送貨單格式與作業流程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900" b="1">
                <a:solidFill>
                  <a:srgbClr val="1A1A1A"/>
                </a:solidFill>
                <a:latin typeface="PingFang TC"/>
              </a:rPr>
              <a:t>•  透明報價</a:t>
            </a:r>
            <a:r>
              <a:rPr sz="1500">
                <a:solidFill>
                  <a:srgbClr val="555555"/>
                </a:solidFill>
                <a:latin typeface="PingFang TC"/>
              </a:rPr>
              <a:t>
     工時、費率、緩衝逐項列出,不含糊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4206240"/>
            <a:ext cx="10698480" cy="201168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438912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1">
                <a:solidFill>
                  <a:srgbClr val="1F4E78"/>
                </a:solidFill>
                <a:latin typeface="PingFang TC"/>
              </a:rPr>
              <a:t>下一步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892040"/>
            <a:ext cx="10058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700" b="0">
                <a:solidFill>
                  <a:srgbClr val="1A1A1A"/>
                </a:solidFill>
                <a:latin typeface="PingFang TC"/>
              </a:rPr>
              <a:t>1. 確認報價與範圍　2. 提供品名規格 Excel 清單　3. 簽約啟動(約 1.5–2 週交付)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600" b="1">
                <a:solidFill>
                  <a:srgbClr val="1F4E78"/>
                </a:solidFill>
                <a:latin typeface="PingFang TC"/>
              </a:rPr>
              <a:t>曾建斌　｜　0927089418　｜　cbtzeng@gmail.com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